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d815641-dc7f-0fba-f4dc-61fcf900c439}">
          <p14:sldIdLst>
            <p14:sldId id="256"/>
          </p14:sldIdLst>
        </p14:section>
        <p14:section name="Round 1" id="{1575d45b-3d99-59e8-8d0b-14ee144f1ed2}">
          <p14:sldIdLst>
            <p14:sldId id="257"/>
            <p14:sldId id="258"/>
            <p14:sldId id="259"/>
          </p14:sldIdLst>
        </p14:section>
        <p14:section name="Final round" id="{2200d09e-2e35-e6cd-2f2c-c674d4c596a3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lose" id="{e26f79df-c803-6119-418f-1023ed55b33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Project: Campus Mithra. Mithra means friend. Your friend on campus, in your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college has the information: fees, placements, building plans. It is just not available at the moment, at the place and in the language the visitor needs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Mithra means friend. Three places, one live data source: the kiosk at the Main Gate, the student app and website, and the admin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order: ask in English, then in Kanglish/Hinglish, then scan the QR and show the walking route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screens are captured from the live product: first-hack-team-spy-sigma.vercel.app and the Android app. Publishing a notice in the dashboard pushes it to every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ESP32 listens, shows and speaks; the PC does the recognition and the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Mithra answers only from the college's records: a retrieval gate, strict prompt rules, a grounding check on every sentence and number, and HMAC-signed campus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van Kumar H\AppData\Local\Temp\claude\c--Users-Pavan-Kumar-H-Documents-PlatformIO-Projects-Campus-Mithra\6fca2088-91a3-4f11-bee6-deca102415a2\scratchpad\deck\img\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093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443B"/>
                </a:solidFill>
              </a:rPr>
              <a:t>CAMPUS MITHRA  ·  TEAM SPY  ·  FIRSTHACK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avankumarh0/first-hack-teamSPY" TargetMode="External"/><Relationship Id="rId2" Type="http://schemas.openxmlformats.org/officeDocument/2006/relationships/hyperlink" Target="https://youtu.be/tY1Hf34JIiQ" TargetMode="External"/><Relationship Id="rId3" Type="http://schemas.openxmlformats.org/officeDocument/2006/relationships/hyperlink" Target="https://first-hack-team-spy-sigma.vercel.app" TargetMode="External"/><Relationship Id="rId4" Type="http://schemas.openxmlformats.org/officeDocument/2006/relationships/image" Target="../media/image-8-1.jpg"/><Relationship Id="rId5" Type="http://schemas.openxmlformats.org/officeDocument/2006/relationships/image" Target="../media/image-8-2.jpg"/><Relationship Id="rId6" Type="http://schemas.openxmlformats.org/officeDocument/2006/relationships/image" Target="../media/image-8-3.jpg"/><Relationship Id="rId7" Type="http://schemas.openxmlformats.org/officeDocument/2006/relationships/image" Target="../media/image-8-4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Pavan Kumar H\AppData\Local\Temp\claude\c--Users-Pavan-Kumar-H-Documents-PlatformIO-Projects-Campus-Mithra\6fca2088-91a3-4f11-bee6-deca102415a2\scratchpad\deck\img\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FIRSTHACK 2026  ·  SUBMISSION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CAMPUS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MITHRA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546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kiosk, app, website and admin dashboard that answer visitors' and students' campus questions in English, Kannada or Hindi, and walk them to the right building.</a:t>
            </a:r>
            <a:endParaRPr lang="en-US" sz="1700" dirty="0"/>
          </a:p>
        </p:txBody>
      </p:sp>
      <p:sp>
        <p:nvSpPr>
          <p:cNvPr id="7" name="Label TEAM"/>
          <p:cNvSpPr/>
          <p:nvPr/>
        </p:nvSpPr>
        <p:spPr>
          <a:xfrm>
            <a:off x="548640" y="420624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206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4206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Spy</a:t>
            </a:r>
            <a:endParaRPr lang="en-US" sz="1500" dirty="0"/>
          </a:p>
        </p:txBody>
      </p:sp>
      <p:sp>
        <p:nvSpPr>
          <p:cNvPr id="10" name="Label TRACK"/>
          <p:cNvSpPr/>
          <p:nvPr/>
        </p:nvSpPr>
        <p:spPr>
          <a:xfrm>
            <a:off x="548640" y="470916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7091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47091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and Student Life</a:t>
            </a:r>
            <a:endParaRPr lang="en-US" sz="1500" dirty="0"/>
          </a:p>
        </p:txBody>
      </p:sp>
      <p:sp>
        <p:nvSpPr>
          <p:cNvPr id="13" name="Label COLLEGE"/>
          <p:cNvSpPr/>
          <p:nvPr/>
        </p:nvSpPr>
        <p:spPr>
          <a:xfrm>
            <a:off x="548640" y="521208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2120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5212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Oxford College of Engineering, Bengaluru</a:t>
            </a:r>
            <a:endParaRPr lang="en-US" sz="1500" dirty="0"/>
          </a:p>
        </p:txBody>
      </p:sp>
      <p:sp>
        <p:nvSpPr>
          <p:cNvPr id="16" name="Label MEMBERS"/>
          <p:cNvSpPr/>
          <p:nvPr/>
        </p:nvSpPr>
        <p:spPr>
          <a:xfrm>
            <a:off x="548640" y="5715000"/>
            <a:ext cx="132588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715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57150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Yadava HC  ·  Pavan Kumar H  ·  Lalitha K  ·  Bhavani Patil</a:t>
            </a:r>
            <a:endParaRPr lang="en-US" sz="1500" dirty="0"/>
          </a:p>
        </p:txBody>
      </p:sp>
      <p:sp>
        <p:nvSpPr>
          <p:cNvPr id="19" name="Hero card"/>
          <p:cNvSpPr/>
          <p:nvPr/>
        </p:nvSpPr>
        <p:spPr>
          <a:xfrm>
            <a:off x="7178040" y="685800"/>
            <a:ext cx="4480560" cy="5257800"/>
          </a:xfrm>
          <a:prstGeom prst="roundRect">
            <a:avLst>
              <a:gd name="adj" fmla="val 3265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101600" dir="2700000">
              <a:srgbClr val="1D1A16">
                <a:alpha val="100000"/>
              </a:srgbClr>
            </a:outerShdw>
          </a:effectLst>
        </p:spPr>
      </p:sp>
      <p:pic>
        <p:nvPicPr>
          <p:cNvPr id="20" name="Kiosk photo" descr="The Campus Mithra ESP32 kiosk on a breadboard with its TFT screen and speak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06640" y="914400"/>
            <a:ext cx="4023360" cy="4800600"/>
          </a:xfrm>
          <a:prstGeom prst="rect">
            <a:avLst/>
          </a:prstGeom>
        </p:spPr>
      </p:pic>
      <p:pic>
        <p:nvPicPr>
          <p:cNvPr id="21" name="Mithra" descr="Mithra, the masc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26280"/>
            <a:ext cx="1600200" cy="1600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first-hack-team-spy-sigma.vercel.app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USEFULNESS · 20%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day: families on a campus they have never seen, with questions nobody at the gate can answer in their language.</a:t>
            </a:r>
            <a:endParaRPr lang="en-US" sz="1900" dirty="0"/>
          </a:p>
        </p:txBody>
      </p:sp>
      <p:sp>
        <p:nvSpPr>
          <p:cNvPr id="8" name="Problem card 1"/>
          <p:cNvSpPr/>
          <p:nvPr/>
        </p:nvSpPr>
        <p:spPr>
          <a:xfrm>
            <a:off x="548640" y="224028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9" name="Dot 1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campus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office, accounts, hostel, departments. Families walk around for twenty minutes looking for the right building.</a:t>
            </a:r>
            <a:endParaRPr lang="en-US" sz="1400" dirty="0"/>
          </a:p>
        </p:txBody>
      </p:sp>
      <p:sp>
        <p:nvSpPr>
          <p:cNvPr id="13" name="Problem card 2"/>
          <p:cNvSpPr/>
          <p:nvPr/>
        </p:nvSpPr>
        <p:spPr>
          <a:xfrm>
            <a:off x="4315968" y="224028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4" name="Dot 2"/>
          <p:cNvSpPr/>
          <p:nvPr/>
        </p:nvSpPr>
        <p:spPr>
          <a:xfrm>
            <a:off x="4590288" y="2468880"/>
            <a:ext cx="457200" cy="457200"/>
          </a:xfrm>
          <a:prstGeom prst="ellipse">
            <a:avLst/>
          </a:prstGeom>
          <a:solidFill>
            <a:schemeClr val="accent4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028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questions, every year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Placements? CSE fee? Is there a hostel? A bus to my area? The college has every answer, in documents nobody at the gate can see.</a:t>
            </a:r>
            <a:endParaRPr lang="en-US" sz="1400" dirty="0"/>
          </a:p>
        </p:txBody>
      </p:sp>
      <p:sp>
        <p:nvSpPr>
          <p:cNvPr id="18" name="Problem card 3"/>
          <p:cNvSpPr/>
          <p:nvPr/>
        </p:nvSpPr>
        <p:spPr>
          <a:xfrm>
            <a:off x="8083296" y="2240280"/>
            <a:ext cx="352044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9" name="Dot 3"/>
          <p:cNvSpPr/>
          <p:nvPr/>
        </p:nvSpPr>
        <p:spPr>
          <a:xfrm>
            <a:off x="8357616" y="2468880"/>
            <a:ext cx="457200" cy="4572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5761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51976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their language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parents are more at home in Kannada or Hindi. Many students speak Kanglish or Hinglish. An English notice board does not help.</a:t>
            </a:r>
            <a:endParaRPr lang="en-US" sz="1400" dirty="0"/>
          </a:p>
        </p:txBody>
      </p:sp>
      <p:sp>
        <p:nvSpPr>
          <p:cNvPr id="23" name="Who and how we know"/>
          <p:cNvSpPr/>
          <p:nvPr/>
        </p:nvSpPr>
        <p:spPr>
          <a:xfrm>
            <a:off x="548640" y="4663440"/>
            <a:ext cx="11064240" cy="1325880"/>
          </a:xfrm>
          <a:prstGeom prst="roundRect">
            <a:avLst>
              <a:gd name="adj" fmla="val 11034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visitors on admission day — students and their parents — plus current students who need the hostel, a lab or today's notice.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KNOW: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Chidambara, a parent on admission day: </a:t>
            </a:r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asked three people where the accounts section was and got three different answers. Nothing at the gate was in Kannada."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ORIGINALITY · 30%</a:t>
            </a:r>
            <a:endParaRPr lang="en-US" sz="1100" dirty="0"/>
          </a:p>
        </p:txBody>
      </p:sp>
      <p:sp>
        <p:nvSpPr>
          <p:cNvPr id="7" name="One-sentence solution"/>
          <p:cNvSpPr/>
          <p:nvPr/>
        </p:nvSpPr>
        <p:spPr>
          <a:xfrm>
            <a:off x="548640" y="1325880"/>
            <a:ext cx="11064240" cy="868680"/>
          </a:xfrm>
          <a:prstGeom prst="roundRect">
            <a:avLst>
              <a:gd name="adj" fmla="val 16842"/>
            </a:avLst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Mithra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visitor ask the gate kiosk out loud, in their own language, and get a checked answer from the college's own records — with a QR code that walks them there on their phone.</a:t>
            </a:r>
            <a:endParaRPr lang="en-US" sz="1600" dirty="0"/>
          </a:p>
        </p:txBody>
      </p:sp>
      <p:sp>
        <p:nvSpPr>
          <p:cNvPr id="9" name="What makes it different"/>
          <p:cNvSpPr/>
          <p:nvPr/>
        </p:nvSpPr>
        <p:spPr>
          <a:xfrm>
            <a:off x="548640" y="2468880"/>
            <a:ext cx="6675120" cy="3246120"/>
          </a:xfrm>
          <a:prstGeom prst="roundRect">
            <a:avLst>
              <a:gd name="adj" fmla="val 4507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0" name="Different chip"/>
          <p:cNvSpPr/>
          <p:nvPr/>
        </p:nvSpPr>
        <p:spPr>
          <a:xfrm>
            <a:off x="822960" y="2697480"/>
            <a:ext cx="31089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00400"/>
            <a:ext cx="6172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 at the gate: an ESP32 kiosk with a mic, speaker and a talking Mithra face — no phone or app needed to ask.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speech: asked in Kanglish or Hinglish, it answers in Kanglish or Hinglish; plain Kannada or Hindi gets plain replies.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makes things up: a grounding check rejects any sentence or number not in the college's records.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source: kiosk, website, Android app and admin dashboard share the same campus data and map.</a:t>
            </a:r>
            <a:endParaRPr lang="en-US" sz="1400" dirty="0"/>
          </a:p>
        </p:txBody>
      </p:sp>
      <p:sp>
        <p:nvSpPr>
          <p:cNvPr id="13" name="What it does not do"/>
          <p:cNvSpPr/>
          <p:nvPr/>
        </p:nvSpPr>
        <p:spPr>
          <a:xfrm>
            <a:off x="7498080" y="2468880"/>
            <a:ext cx="4114800" cy="3246120"/>
          </a:xfrm>
          <a:prstGeom prst="roundRect">
            <a:avLst>
              <a:gd name="adj" fmla="val 4507"/>
            </a:avLst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4" name="Does not chip"/>
          <p:cNvSpPr/>
          <p:nvPr/>
        </p:nvSpPr>
        <p:spPr>
          <a:xfrm>
            <a:off x="7772400" y="2697480"/>
            <a:ext cx="274320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2697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20040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anything outside the college — it says "I don't know about that."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alone: the kiosk needs a PC beside it over USB.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Kannada or Hindi script on the kiosk screen — it shows Latin letters and speaks the language.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the app is Android only for now.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CLARITY · 20%</a:t>
            </a:r>
            <a:endParaRPr lang="en-US" sz="1100" dirty="0"/>
          </a:p>
        </p:txBody>
      </p:sp>
      <p:sp>
        <p:nvSpPr>
          <p:cNvPr id="7" name="Step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kiosk button and ask out loud: "Boys hostel-ge hoguva map kodu."</a:t>
            </a:r>
            <a:endParaRPr lang="en-US" sz="1400" dirty="0"/>
          </a:p>
        </p:txBody>
      </p:sp>
      <p:sp>
        <p:nvSpPr>
          <p:cNvPr id="11" name="Step photo 1 border"/>
          <p:cNvSpPr/>
          <p:nvPr/>
        </p:nvSpPr>
        <p:spPr>
          <a:xfrm>
            <a:off x="548640" y="3008376"/>
            <a:ext cx="3511296" cy="30358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12" name="Step photo 1" descr="The kiosk screen showing Mithra and an answ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63240"/>
            <a:ext cx="3401568" cy="2926080"/>
          </a:xfrm>
          <a:prstGeom prst="rect">
            <a:avLst/>
          </a:prstGeom>
        </p:spPr>
      </p:pic>
      <p:sp>
        <p:nvSpPr>
          <p:cNvPr id="13" name="Step 2"/>
          <p:cNvSpPr/>
          <p:nvPr/>
        </p:nvSpPr>
        <p:spPr>
          <a:xfrm>
            <a:off x="4315968" y="1371600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15968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THE ANSWER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315968" y="20574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 says and shows the answer in the same language, names the source, and shows a QR code.</a:t>
            </a:r>
            <a:endParaRPr lang="en-US" sz="1400" dirty="0"/>
          </a:p>
        </p:txBody>
      </p:sp>
      <p:sp>
        <p:nvSpPr>
          <p:cNvPr id="17" name="Step photo 2 border"/>
          <p:cNvSpPr/>
          <p:nvPr/>
        </p:nvSpPr>
        <p:spPr>
          <a:xfrm>
            <a:off x="4315968" y="3008376"/>
            <a:ext cx="3511296" cy="30358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18" name="Step photo 2" descr="The kiosk showing a walking-route QR 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0832" y="3063240"/>
            <a:ext cx="3401568" cy="2926080"/>
          </a:xfrm>
          <a:prstGeom prst="rect">
            <a:avLst/>
          </a:prstGeom>
        </p:spPr>
      </p:pic>
      <p:sp>
        <p:nvSpPr>
          <p:cNvPr id="19" name="Step 3"/>
          <p:cNvSpPr/>
          <p:nvPr/>
        </p:nvSpPr>
        <p:spPr>
          <a:xfrm>
            <a:off x="8083296" y="1371600"/>
            <a:ext cx="566928" cy="566928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83296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796528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WALK THERE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8083296" y="20574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it: the route opens on the phone with live GPS along the real campus paths.</a:t>
            </a:r>
            <a:endParaRPr lang="en-US" sz="1400" dirty="0"/>
          </a:p>
        </p:txBody>
      </p:sp>
      <p:sp>
        <p:nvSpPr>
          <p:cNvPr id="23" name="Walking route on the phone frame"/>
          <p:cNvSpPr/>
          <p:nvPr/>
        </p:nvSpPr>
        <p:spPr>
          <a:xfrm>
            <a:off x="8503920" y="2971800"/>
            <a:ext cx="1523390" cy="3108960"/>
          </a:xfrm>
          <a:prstGeom prst="roundRect">
            <a:avLst>
              <a:gd name="adj" fmla="val 168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24" name="Walking route on the phone" descr="Walking route on the pho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86216" y="3103474"/>
            <a:ext cx="1358798" cy="2845613"/>
          </a:xfrm>
          <a:prstGeom prst="rect">
            <a:avLst/>
          </a:prstGeom>
        </p:spPr>
      </p:pic>
      <p:sp>
        <p:nvSpPr>
          <p:cNvPr id="25" name="Walking route on the phone speaker"/>
          <p:cNvSpPr/>
          <p:nvPr/>
        </p:nvSpPr>
        <p:spPr>
          <a:xfrm>
            <a:off x="9052341" y="3017520"/>
            <a:ext cx="426549" cy="54864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 w="6350">
            <a:solidFill>
              <a:srgbClr val="3A352E"/>
            </a:solidFill>
            <a:prstDash val="solid"/>
          </a:ln>
        </p:spPr>
      </p:sp>
      <p:sp>
        <p:nvSpPr>
          <p:cNvPr id="26" name="Route stat"/>
          <p:cNvSpPr/>
          <p:nvPr/>
        </p:nvSpPr>
        <p:spPr>
          <a:xfrm>
            <a:off x="10149840" y="3337560"/>
            <a:ext cx="150876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10149840" y="33375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m walk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 AND APP, LIVE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· 30%</a:t>
            </a:r>
            <a:endParaRPr lang="en-US" sz="1100" dirty="0"/>
          </a:p>
        </p:txBody>
      </p:sp>
      <p:sp>
        <p:nvSpPr>
          <p:cNvPr id="7" name="Campus map border"/>
          <p:cNvSpPr/>
          <p:nvPr/>
        </p:nvSpPr>
        <p:spPr>
          <a:xfrm>
            <a:off x="548640" y="1408176"/>
            <a:ext cx="6693408" cy="381304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8" name="Campus map" descr="Website campus map with a walking route on the satellite view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1463040"/>
            <a:ext cx="6583680" cy="3703320"/>
          </a:xfrm>
          <a:prstGeom prst="rect">
            <a:avLst/>
          </a:prstGeom>
        </p:spPr>
      </p:pic>
      <p:sp>
        <p:nvSpPr>
          <p:cNvPr id="9" name="Map chip"/>
          <p:cNvSpPr/>
          <p:nvPr/>
        </p:nvSpPr>
        <p:spPr>
          <a:xfrm>
            <a:off x="603504" y="5440680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" y="5440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CAMPUS MAP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5349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campus paths on the satellite view, shortest and step-free routes, and a QR to take them to the phone.</a:t>
            </a:r>
            <a:endParaRPr lang="en-US" sz="1300" dirty="0"/>
          </a:p>
        </p:txBody>
      </p:sp>
      <p:sp>
        <p:nvSpPr>
          <p:cNvPr id="12" name="App notices frame"/>
          <p:cNvSpPr/>
          <p:nvPr/>
        </p:nvSpPr>
        <p:spPr>
          <a:xfrm>
            <a:off x="7589520" y="1371600"/>
            <a:ext cx="1971446" cy="4023360"/>
          </a:xfrm>
          <a:prstGeom prst="roundRect">
            <a:avLst>
              <a:gd name="adj" fmla="val 129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13" name="App notices" descr="App notic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71816" y="1503274"/>
            <a:ext cx="1806854" cy="3760013"/>
          </a:xfrm>
          <a:prstGeom prst="rect">
            <a:avLst/>
          </a:prstGeom>
        </p:spPr>
      </p:pic>
      <p:sp>
        <p:nvSpPr>
          <p:cNvPr id="14" name="App notices speaker"/>
          <p:cNvSpPr/>
          <p:nvPr/>
        </p:nvSpPr>
        <p:spPr>
          <a:xfrm>
            <a:off x="8299241" y="1417320"/>
            <a:ext cx="552005" cy="54864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 w="6350">
            <a:solidFill>
              <a:srgbClr val="3A352E"/>
            </a:solidFill>
            <a:prstDash val="solid"/>
          </a:ln>
        </p:spPr>
      </p:sp>
      <p:sp>
        <p:nvSpPr>
          <p:cNvPr id="15" name="App events frame"/>
          <p:cNvSpPr/>
          <p:nvPr/>
        </p:nvSpPr>
        <p:spPr>
          <a:xfrm>
            <a:off x="9692640" y="1371600"/>
            <a:ext cx="1971446" cy="4023360"/>
          </a:xfrm>
          <a:prstGeom prst="roundRect">
            <a:avLst>
              <a:gd name="adj" fmla="val 129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16" name="App events" descr="App event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74936" y="1503274"/>
            <a:ext cx="1806854" cy="3760013"/>
          </a:xfrm>
          <a:prstGeom prst="rect">
            <a:avLst/>
          </a:prstGeom>
        </p:spPr>
      </p:pic>
      <p:sp>
        <p:nvSpPr>
          <p:cNvPr id="17" name="App events speaker"/>
          <p:cNvSpPr/>
          <p:nvPr/>
        </p:nvSpPr>
        <p:spPr>
          <a:xfrm>
            <a:off x="10402361" y="1417320"/>
            <a:ext cx="552005" cy="54864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 w="6350">
            <a:solidFill>
              <a:srgbClr val="3A352E"/>
            </a:solidFill>
            <a:prstDash val="solid"/>
          </a:ln>
        </p:spPr>
      </p:sp>
      <p:sp>
        <p:nvSpPr>
          <p:cNvPr id="18" name="App chip"/>
          <p:cNvSpPr/>
          <p:nvPr/>
        </p:nvSpPr>
        <p:spPr>
          <a:xfrm>
            <a:off x="7589520" y="5623560"/>
            <a:ext cx="4078224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589520" y="562356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 ·  NOTICES  ·  EVENTS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KIOSK HARDWARE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· 30%</a:t>
            </a:r>
            <a:endParaRPr lang="en-US" sz="1100" dirty="0"/>
          </a:p>
        </p:txBody>
      </p:sp>
      <p:sp>
        <p:nvSpPr>
          <p:cNvPr id="7" name="Kiosk build border"/>
          <p:cNvSpPr/>
          <p:nvPr/>
        </p:nvSpPr>
        <p:spPr>
          <a:xfrm>
            <a:off x="548640" y="1362456"/>
            <a:ext cx="5230368" cy="409651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8" name="Kiosk build" descr="The kiosk build, an answer on screen, and a route QR 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1417320"/>
            <a:ext cx="5120640" cy="3986784"/>
          </a:xfrm>
          <a:prstGeom prst="rect">
            <a:avLst/>
          </a:prstGeom>
        </p:spPr>
      </p:pic>
      <p:sp>
        <p:nvSpPr>
          <p:cNvPr id="9" name="Part 1"/>
          <p:cNvSpPr/>
          <p:nvPr/>
        </p:nvSpPr>
        <p:spPr>
          <a:xfrm>
            <a:off x="6172200" y="1371600"/>
            <a:ext cx="54864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0" name="Part dot 1"/>
          <p:cNvSpPr/>
          <p:nvPr/>
        </p:nvSpPr>
        <p:spPr>
          <a:xfrm>
            <a:off x="6309360" y="1517904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13716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firmware (C++, PlatformIO)</a:t>
            </a:r>
            <a:endParaRPr lang="en-US" sz="1400" dirty="0"/>
          </a:p>
        </p:txBody>
      </p:sp>
      <p:sp>
        <p:nvSpPr>
          <p:cNvPr id="12" name="Part 2"/>
          <p:cNvSpPr/>
          <p:nvPr/>
        </p:nvSpPr>
        <p:spPr>
          <a:xfrm>
            <a:off x="6172200" y="2084832"/>
            <a:ext cx="54864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3" name="Part dot 2"/>
          <p:cNvSpPr/>
          <p:nvPr/>
        </p:nvSpPr>
        <p:spPr>
          <a:xfrm>
            <a:off x="6309360" y="2231136"/>
            <a:ext cx="274320" cy="2743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20848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2.8" ILI9341 TFT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Mithra's face, answers and QR codes</a:t>
            </a:r>
            <a:endParaRPr lang="en-US" sz="1400" dirty="0"/>
          </a:p>
        </p:txBody>
      </p:sp>
      <p:sp>
        <p:nvSpPr>
          <p:cNvPr id="15" name="Part 3"/>
          <p:cNvSpPr/>
          <p:nvPr/>
        </p:nvSpPr>
        <p:spPr>
          <a:xfrm>
            <a:off x="6172200" y="2798064"/>
            <a:ext cx="54864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6" name="Part dot 3"/>
          <p:cNvSpPr/>
          <p:nvPr/>
        </p:nvSpPr>
        <p:spPr>
          <a:xfrm>
            <a:off x="6309360" y="2944368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20840" y="27980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I2S mic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question at 16 kHz</a:t>
            </a:r>
            <a:endParaRPr lang="en-US" sz="1400" dirty="0"/>
          </a:p>
        </p:txBody>
      </p:sp>
      <p:sp>
        <p:nvSpPr>
          <p:cNvPr id="18" name="Part 4"/>
          <p:cNvSpPr/>
          <p:nvPr/>
        </p:nvSpPr>
        <p:spPr>
          <a:xfrm>
            <a:off x="6172200" y="3511296"/>
            <a:ext cx="54864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9" name="Part dot 4"/>
          <p:cNvSpPr/>
          <p:nvPr/>
        </p:nvSpPr>
        <p:spPr>
          <a:xfrm>
            <a:off x="6309360" y="3657600"/>
            <a:ext cx="274320" cy="27432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20840" y="35112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MAX98357A amp + speaker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answer, lip-synced</a:t>
            </a:r>
            <a:endParaRPr lang="en-US" sz="1400" dirty="0"/>
          </a:p>
        </p:txBody>
      </p:sp>
      <p:sp>
        <p:nvSpPr>
          <p:cNvPr id="21" name="Part 5"/>
          <p:cNvSpPr/>
          <p:nvPr/>
        </p:nvSpPr>
        <p:spPr>
          <a:xfrm>
            <a:off x="6172200" y="4224528"/>
            <a:ext cx="548640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22" name="Part dot 5"/>
          <p:cNvSpPr/>
          <p:nvPr/>
        </p:nvSpPr>
        <p:spPr>
          <a:xfrm>
            <a:off x="6309360" y="4370832"/>
            <a:ext cx="274320" cy="27432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20840" y="42245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push-to-talk on GPIO27</a:t>
            </a:r>
            <a:endParaRPr lang="en-US" sz="1400" dirty="0"/>
          </a:p>
        </p:txBody>
      </p:sp>
      <p:sp>
        <p:nvSpPr>
          <p:cNvPr id="24" name="Cost stat"/>
          <p:cNvSpPr/>
          <p:nvPr/>
        </p:nvSpPr>
        <p:spPr>
          <a:xfrm>
            <a:off x="6172200" y="4983480"/>
            <a:ext cx="2651760" cy="1051560"/>
          </a:xfrm>
          <a:prstGeom prst="roundRect">
            <a:avLst>
              <a:gd name="adj" fmla="val 13913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172200" y="49834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₹1.5k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hardware build</a:t>
            </a:r>
            <a:endParaRPr lang="en-US" sz="2600" dirty="0"/>
          </a:p>
        </p:txBody>
      </p:sp>
      <p:sp>
        <p:nvSpPr>
          <p:cNvPr id="26" name="Link stat"/>
          <p:cNvSpPr/>
          <p:nvPr/>
        </p:nvSpPr>
        <p:spPr>
          <a:xfrm>
            <a:off x="9006840" y="4983480"/>
            <a:ext cx="2651760" cy="1051560"/>
          </a:xfrm>
          <a:prstGeom prst="roundRect">
            <a:avLst>
              <a:gd name="adj" fmla="val 13913"/>
            </a:avLst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098280" y="4983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USB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PC — no Wi-Fi keys on the device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603504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one temporary helpdesk person for an admission season.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 IT WITH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· 30%</a:t>
            </a:r>
            <a:endParaRPr lang="en-US" sz="1100" dirty="0"/>
          </a:p>
        </p:txBody>
      </p:sp>
      <p:sp>
        <p:nvSpPr>
          <p:cNvPr id="7" name="Flow 1"/>
          <p:cNvSpPr/>
          <p:nvPr/>
        </p:nvSpPr>
        <p:spPr>
          <a:xfrm>
            <a:off x="548640" y="132588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" y="13258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saaras:v4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2212848" y="1700784"/>
            <a:ext cx="219456" cy="164592"/>
          </a:xfrm>
          <a:prstGeom prst="triangl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Flow 2"/>
          <p:cNvSpPr/>
          <p:nvPr/>
        </p:nvSpPr>
        <p:spPr>
          <a:xfrm>
            <a:off x="2423160" y="132588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96312" y="13258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translate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 rot="5400000">
            <a:off x="4087368" y="1700784"/>
            <a:ext cx="219456" cy="164592"/>
          </a:xfrm>
          <a:prstGeom prst="triangl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Flow 3"/>
          <p:cNvSpPr/>
          <p:nvPr/>
        </p:nvSpPr>
        <p:spPr>
          <a:xfrm>
            <a:off x="4297680" y="132588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70832" y="13258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TF-IDF</a:t>
            </a:r>
            <a:endParaRPr lang="en-US" sz="1400" dirty="0"/>
          </a:p>
        </p:txBody>
      </p:sp>
      <p:sp>
        <p:nvSpPr>
          <p:cNvPr id="15" name="Arrow 3"/>
          <p:cNvSpPr/>
          <p:nvPr/>
        </p:nvSpPr>
        <p:spPr>
          <a:xfrm rot="5400000">
            <a:off x="5961888" y="1700784"/>
            <a:ext cx="219456" cy="164592"/>
          </a:xfrm>
          <a:prstGeom prst="triangl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6" name="Flow 4"/>
          <p:cNvSpPr/>
          <p:nvPr/>
        </p:nvSpPr>
        <p:spPr>
          <a:xfrm>
            <a:off x="6172200" y="132588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45352" y="13258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1400" dirty="0"/>
          </a:p>
        </p:txBody>
      </p:sp>
      <p:sp>
        <p:nvSpPr>
          <p:cNvPr id="18" name="Arrow 4"/>
          <p:cNvSpPr/>
          <p:nvPr/>
        </p:nvSpPr>
        <p:spPr>
          <a:xfrm rot="5400000">
            <a:off x="7836408" y="1700784"/>
            <a:ext cx="219456" cy="164592"/>
          </a:xfrm>
          <a:prstGeom prst="triangl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Flow 5"/>
          <p:cNvSpPr/>
          <p:nvPr/>
        </p:nvSpPr>
        <p:spPr>
          <a:xfrm>
            <a:off x="8046720" y="132588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19872" y="13258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400" dirty="0"/>
          </a:p>
        </p:txBody>
      </p:sp>
      <p:sp>
        <p:nvSpPr>
          <p:cNvPr id="21" name="Arrow 5"/>
          <p:cNvSpPr/>
          <p:nvPr/>
        </p:nvSpPr>
        <p:spPr>
          <a:xfrm rot="5400000">
            <a:off x="9710928" y="1700784"/>
            <a:ext cx="219456" cy="164592"/>
          </a:xfrm>
          <a:prstGeom prst="triangl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2" name="Flow 6"/>
          <p:cNvSpPr/>
          <p:nvPr/>
        </p:nvSpPr>
        <p:spPr>
          <a:xfrm>
            <a:off x="9921240" y="132588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994392" y="132588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+ speak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style</a:t>
            </a:r>
            <a:endParaRPr lang="en-US" sz="1400" dirty="0"/>
          </a:p>
        </p:txBody>
      </p:sp>
      <p:sp>
        <p:nvSpPr>
          <p:cNvPr id="24" name="Column 1"/>
          <p:cNvSpPr/>
          <p:nvPr/>
        </p:nvSpPr>
        <p:spPr>
          <a:xfrm>
            <a:off x="548640" y="2560320"/>
            <a:ext cx="3520440" cy="32004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FRAMEWORKS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15468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Kiosk: C++ on ESP32 (PlatformIO, TFT_eSPI, QRCode)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Python, FastAPI, NumPy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admin: Next.js 16, React, TypeScript, Tailwind, Google Maps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Flutter (Android)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Firebase Auth, Firestore, Storage, FCM</a:t>
            </a:r>
            <a:endParaRPr lang="en-US" sz="1300" dirty="0"/>
          </a:p>
        </p:txBody>
      </p:sp>
      <p:sp>
        <p:nvSpPr>
          <p:cNvPr id="27" name="Column 2"/>
          <p:cNvSpPr/>
          <p:nvPr/>
        </p:nvSpPr>
        <p:spPr>
          <a:xfrm>
            <a:off x="4315968" y="2560320"/>
            <a:ext cx="3520440" cy="320040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544568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HARDEST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315468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in the style asked: Kanglish in, Kanglish out — translate to English for search and checking, then back with mayura:v1 for code-mixed or sarvam-translate for pure Kannada/Hindi.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speech to the ESP32 over USB serial without stutter: playback paced by credits from the kiosk.</a:t>
            </a:r>
            <a:endParaRPr lang="en-US" sz="1300" dirty="0"/>
          </a:p>
        </p:txBody>
      </p:sp>
      <p:sp>
        <p:nvSpPr>
          <p:cNvPr id="30" name="Column 3"/>
          <p:cNvSpPr/>
          <p:nvPr/>
        </p:nvSpPr>
        <p:spPr>
          <a:xfrm>
            <a:off x="8083296" y="2560320"/>
            <a:ext cx="3520440" cy="32004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11896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 FROM OTHERS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11896" y="315468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(speech, translation), Gemma 4 via Google AI Studio, edge-tts voices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Remotion for the animated characters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 listed in the repo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helped write and review code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RUNNING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· 30%</a:t>
            </a:r>
            <a:endParaRPr lang="en-US" sz="1100" dirty="0"/>
          </a:p>
        </p:txBody>
      </p:sp>
      <p:sp>
        <p:nvSpPr>
          <p:cNvPr id="7" name="Link card 1"/>
          <p:cNvSpPr/>
          <p:nvPr/>
        </p:nvSpPr>
        <p:spPr>
          <a:xfrm>
            <a:off x="548640" y="1417320"/>
            <a:ext cx="3520440" cy="237744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with full commit history.</a:t>
            </a:r>
            <a:endParaRPr lang="en-US" sz="1400" dirty="0"/>
          </a:p>
        </p:txBody>
      </p:sp>
      <p:sp>
        <p:nvSpPr>
          <p:cNvPr id="10" name="Link box 1"/>
          <p:cNvSpPr/>
          <p:nvPr/>
        </p:nvSpPr>
        <p:spPr>
          <a:xfrm>
            <a:off x="822960" y="283464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346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github.com/Pavankumarh0/first-hack-teamSPY</a:t>
            </a:r>
            <a:endParaRPr lang="en-US" sz="1200" dirty="0"/>
          </a:p>
        </p:txBody>
      </p:sp>
      <p:sp>
        <p:nvSpPr>
          <p:cNvPr id="12" name="Link card 2"/>
          <p:cNvSpPr/>
          <p:nvPr/>
        </p:nvSpPr>
        <p:spPr>
          <a:xfrm>
            <a:off x="4315968" y="1417320"/>
            <a:ext cx="3520440" cy="237744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90288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kiosk, website, app and dashboard.</a:t>
            </a:r>
            <a:endParaRPr lang="en-US" sz="1400" dirty="0"/>
          </a:p>
        </p:txBody>
      </p:sp>
      <p:sp>
        <p:nvSpPr>
          <p:cNvPr id="15" name="Link box 2"/>
          <p:cNvSpPr/>
          <p:nvPr/>
        </p:nvSpPr>
        <p:spPr>
          <a:xfrm>
            <a:off x="4590288" y="283464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28346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youtu.be/tY1Hf34JIiQ</a:t>
            </a:r>
            <a:endParaRPr lang="en-US" sz="1200" dirty="0"/>
          </a:p>
        </p:txBody>
      </p:sp>
      <p:sp>
        <p:nvSpPr>
          <p:cNvPr id="17" name="Link card 3"/>
          <p:cNvSpPr/>
          <p:nvPr/>
        </p:nvSpPr>
        <p:spPr>
          <a:xfrm>
            <a:off x="8083296" y="1417320"/>
            <a:ext cx="3520440" cy="237744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57616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admin, and the Android APK at /app.</a:t>
            </a:r>
            <a:endParaRPr lang="en-US" sz="1400" dirty="0"/>
          </a:p>
        </p:txBody>
      </p:sp>
      <p:sp>
        <p:nvSpPr>
          <p:cNvPr id="20" name="Link box 3"/>
          <p:cNvSpPr/>
          <p:nvPr/>
        </p:nvSpPr>
        <p:spPr>
          <a:xfrm>
            <a:off x="8357616" y="283464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9056" y="28346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first-hack-team-spy-sigma.vercel.app</a:t>
            </a:r>
            <a:endParaRPr lang="en-US" sz="1200" dirty="0"/>
          </a:p>
        </p:txBody>
      </p:sp>
      <p:sp>
        <p:nvSpPr>
          <p:cNvPr id="22" name="Admin announcement form border"/>
          <p:cNvSpPr/>
          <p:nvPr/>
        </p:nvSpPr>
        <p:spPr>
          <a:xfrm>
            <a:off x="548640" y="4105656"/>
            <a:ext cx="5596128" cy="19385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23" name="Admin announcement form" descr="Admin dashboard: writing a notic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3504" y="4160520"/>
            <a:ext cx="5486400" cy="1828800"/>
          </a:xfrm>
          <a:prstGeom prst="rect">
            <a:avLst/>
          </a:prstGeom>
        </p:spPr>
      </p:pic>
      <p:sp>
        <p:nvSpPr>
          <p:cNvPr id="24" name="Kiosk answer border"/>
          <p:cNvSpPr/>
          <p:nvPr/>
        </p:nvSpPr>
        <p:spPr>
          <a:xfrm>
            <a:off x="6300216" y="4105656"/>
            <a:ext cx="2624328" cy="19385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25" name="Kiosk answer" descr="Kiosk answer on screen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55080" y="4160520"/>
            <a:ext cx="2514600" cy="1828800"/>
          </a:xfrm>
          <a:prstGeom prst="rect">
            <a:avLst/>
          </a:prstGeom>
        </p:spPr>
      </p:pic>
      <p:sp>
        <p:nvSpPr>
          <p:cNvPr id="26" name="App community frame"/>
          <p:cNvSpPr/>
          <p:nvPr/>
        </p:nvSpPr>
        <p:spPr>
          <a:xfrm>
            <a:off x="9144000" y="4023360"/>
            <a:ext cx="1030529" cy="2103120"/>
          </a:xfrm>
          <a:prstGeom prst="roundRect">
            <a:avLst>
              <a:gd name="adj" fmla="val 248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27" name="App community" descr="App communit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26296" y="4155034"/>
            <a:ext cx="865937" cy="1839773"/>
          </a:xfrm>
          <a:prstGeom prst="rect">
            <a:avLst/>
          </a:prstGeom>
        </p:spPr>
      </p:pic>
      <p:sp>
        <p:nvSpPr>
          <p:cNvPr id="28" name="App community speaker"/>
          <p:cNvSpPr/>
          <p:nvPr/>
        </p:nvSpPr>
        <p:spPr>
          <a:xfrm>
            <a:off x="9514990" y="4069080"/>
            <a:ext cx="288548" cy="54864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 w="6350">
            <a:solidFill>
              <a:srgbClr val="3A352E"/>
            </a:solidFill>
            <a:prstDash val="solid"/>
          </a:ln>
        </p:spPr>
      </p:sp>
      <p:sp>
        <p:nvSpPr>
          <p:cNvPr id="29" name="App clubs frame"/>
          <p:cNvSpPr/>
          <p:nvPr/>
        </p:nvSpPr>
        <p:spPr>
          <a:xfrm>
            <a:off x="10607040" y="4023360"/>
            <a:ext cx="1030529" cy="2103120"/>
          </a:xfrm>
          <a:prstGeom prst="roundRect">
            <a:avLst>
              <a:gd name="adj" fmla="val 248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30" name="App clubs" descr="App clubs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689336" y="4155034"/>
            <a:ext cx="865937" cy="1839773"/>
          </a:xfrm>
          <a:prstGeom prst="rect">
            <a:avLst/>
          </a:prstGeom>
        </p:spPr>
      </p:pic>
      <p:sp>
        <p:nvSpPr>
          <p:cNvPr id="31" name="App clubs speaker"/>
          <p:cNvSpPr/>
          <p:nvPr/>
        </p:nvSpPr>
        <p:spPr>
          <a:xfrm>
            <a:off x="10978030" y="4069080"/>
            <a:ext cx="288548" cy="54864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 w="6350">
            <a:solidFill>
              <a:srgbClr val="3A35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WORKS, WHAT'S NEXT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Working today"/>
          <p:cNvSpPr/>
          <p:nvPr/>
        </p:nvSpPr>
        <p:spPr>
          <a:xfrm>
            <a:off x="548640" y="1371600"/>
            <a:ext cx="5760720" cy="3520440"/>
          </a:xfrm>
          <a:prstGeom prst="roundRect">
            <a:avLst>
              <a:gd name="adj" fmla="val 4156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6" name="Working chip"/>
          <p:cNvSpPr/>
          <p:nvPr/>
        </p:nvSpPr>
        <p:spPr>
          <a:xfrm>
            <a:off x="822960" y="1600200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answers spoken questions in English, Kannada, Hindi, Kanglish and Hinglish — on screen and out loud, with the source named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Walking-route QR codes that open live GPS directions on the phone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 and Android app: map, notices, events, clubs, issue reports, community, Campus IQ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 map editor, content, QR codes, kiosk device keys, moderation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when a notice is published</a:t>
            </a:r>
            <a:endParaRPr lang="en-US" sz="1400" dirty="0"/>
          </a:p>
        </p:txBody>
      </p:sp>
      <p:sp>
        <p:nvSpPr>
          <p:cNvPr id="9" name="Not built yet"/>
          <p:cNvSpPr/>
          <p:nvPr/>
        </p:nvSpPr>
        <p:spPr>
          <a:xfrm>
            <a:off x="6583680" y="1371600"/>
            <a:ext cx="5029200" cy="3520440"/>
          </a:xfrm>
          <a:prstGeom prst="roundRect">
            <a:avLst>
              <a:gd name="adj" fmla="val 4156"/>
            </a:avLst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0" name="Not yet chip"/>
          <p:cNvSpPr/>
          <p:nvPr/>
        </p:nvSpPr>
        <p:spPr>
          <a:xfrm>
            <a:off x="6858000" y="1600200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600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1031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Stand-alone kiosk on Wi-Fi, no PC — one box at every gate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and Hindi script on the kiosk screen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enclosure for the breadboard build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insights for the college: what visitors asked, in which language</a:t>
            </a:r>
            <a:endParaRPr lang="en-US" sz="1400" dirty="0"/>
          </a:p>
        </p:txBody>
      </p:sp>
      <p:sp>
        <p:nvSpPr>
          <p:cNvPr id="13" name="Stat 1"/>
          <p:cNvSpPr/>
          <p:nvPr/>
        </p:nvSpPr>
        <p:spPr>
          <a:xfrm>
            <a:off x="548640" y="512064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51206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120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ask: English, Kannada, Hindi, Kanglish, Hinglish</a:t>
            </a:r>
            <a:endParaRPr lang="en-US" sz="1200" dirty="0"/>
          </a:p>
        </p:txBody>
      </p:sp>
      <p:sp>
        <p:nvSpPr>
          <p:cNvPr id="16" name="Stat 2"/>
          <p:cNvSpPr/>
          <p:nvPr/>
        </p:nvSpPr>
        <p:spPr>
          <a:xfrm>
            <a:off x="3383280" y="512064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20440" y="51206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5120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documents in the knowledge base</a:t>
            </a:r>
            <a:endParaRPr lang="en-US" sz="1200" dirty="0"/>
          </a:p>
        </p:txBody>
      </p:sp>
      <p:sp>
        <p:nvSpPr>
          <p:cNvPr id="19" name="Stat 3"/>
          <p:cNvSpPr/>
          <p:nvPr/>
        </p:nvSpPr>
        <p:spPr>
          <a:xfrm>
            <a:off x="6217920" y="512064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51206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5120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source for kiosk, web, app and admin</a:t>
            </a:r>
            <a:endParaRPr lang="en-US" sz="1200" dirty="0"/>
          </a:p>
        </p:txBody>
      </p:sp>
      <p:sp>
        <p:nvSpPr>
          <p:cNvPr id="22" name="Stat 4"/>
          <p:cNvSpPr/>
          <p:nvPr/>
        </p:nvSpPr>
        <p:spPr>
          <a:xfrm>
            <a:off x="9052560" y="512064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89720" y="51206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921240" y="5120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allowed that are not in the records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COLLEGE ADOPTS IT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Judging tag"/>
          <p:cNvSpPr/>
          <p:nvPr/>
        </p:nvSpPr>
        <p:spPr>
          <a:xfrm>
            <a:off x="8915400" y="548640"/>
            <a:ext cx="2788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15400" y="548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USEFULNESS · 20%</a:t>
            </a:r>
            <a:endParaRPr lang="en-US" sz="1100" dirty="0"/>
          </a:p>
        </p:txBody>
      </p:sp>
      <p:sp>
        <p:nvSpPr>
          <p:cNvPr id="7" name="Week 1"/>
          <p:cNvSpPr/>
          <p:nvPr/>
        </p:nvSpPr>
        <p:spPr>
          <a:xfrm>
            <a:off x="548640" y="1417320"/>
            <a:ext cx="2606040" cy="155448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65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campus: paths, buildings, rooms</a:t>
            </a:r>
            <a:endParaRPr lang="en-US" sz="1400" dirty="0"/>
          </a:p>
        </p:txBody>
      </p:sp>
      <p:sp>
        <p:nvSpPr>
          <p:cNvPr id="10" name="Week 2"/>
          <p:cNvSpPr/>
          <p:nvPr/>
        </p:nvSpPr>
        <p:spPr>
          <a:xfrm>
            <a:off x="3383280" y="1417320"/>
            <a:ext cx="2606040" cy="155448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8444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1965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fees, placements, hostel, transport, events</a:t>
            </a:r>
            <a:endParaRPr lang="en-US" sz="1400" dirty="0"/>
          </a:p>
        </p:txBody>
      </p:sp>
      <p:sp>
        <p:nvSpPr>
          <p:cNvPr id="13" name="Week 3"/>
          <p:cNvSpPr/>
          <p:nvPr/>
        </p:nvSpPr>
        <p:spPr>
          <a:xfrm>
            <a:off x="6217920" y="1417320"/>
            <a:ext cx="2606040" cy="155448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1908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1965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kiosks, print QR codes for every door</a:t>
            </a:r>
            <a:endParaRPr lang="en-US" sz="1400" dirty="0"/>
          </a:p>
        </p:txBody>
      </p:sp>
      <p:sp>
        <p:nvSpPr>
          <p:cNvPr id="16" name="Week 4"/>
          <p:cNvSpPr/>
          <p:nvPr/>
        </p:nvSpPr>
        <p:spPr>
          <a:xfrm>
            <a:off x="9052560" y="1417320"/>
            <a:ext cx="2606040" cy="155448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D1A16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5372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ADMISSION DAY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1965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ask, scan and walk</a:t>
            </a:r>
            <a:endParaRPr lang="en-US" sz="1400" dirty="0"/>
          </a:p>
        </p:txBody>
      </p:sp>
      <p:sp>
        <p:nvSpPr>
          <p:cNvPr id="19" name="Business model"/>
          <p:cNvSpPr/>
          <p:nvPr/>
        </p:nvSpPr>
        <p:spPr>
          <a:xfrm>
            <a:off x="548640" y="3291840"/>
            <a:ext cx="7223760" cy="27432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3456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(PROPOSED)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31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subscription: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 – ₹4,000 a year per campus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348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hardware kit: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₹1,500 to build; sold or rented for the admission season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service: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the campus and load the content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insights: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add-on</a:t>
            </a:r>
            <a:endParaRPr lang="en-US" sz="1400" dirty="0"/>
          </a:p>
        </p:txBody>
      </p:sp>
      <p:sp>
        <p:nvSpPr>
          <p:cNvPr id="25" name="Next markets"/>
          <p:cNvSpPr/>
          <p:nvPr/>
        </p:nvSpPr>
        <p:spPr>
          <a:xfrm>
            <a:off x="8046720" y="3291840"/>
            <a:ext cx="3566160" cy="27432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pic>
        <p:nvPicPr>
          <p:cNvPr id="26" name="MapWalk" descr="MapWalk charac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383280"/>
            <a:ext cx="1097280" cy="109728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32104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GROW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526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people get lost and ask the same questions: hospitals, government offices, malls, exhibitions and events.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17320" y="3840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3" name="Section number"/>
          <p:cNvSpPr/>
          <p:nvPr/>
        </p:nvSpPr>
        <p:spPr>
          <a:xfrm>
            <a:off x="502920" y="429768"/>
            <a:ext cx="731520" cy="64008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429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Member 1"/>
          <p:cNvSpPr/>
          <p:nvPr/>
        </p:nvSpPr>
        <p:spPr>
          <a:xfrm>
            <a:off x="548640" y="1417320"/>
            <a:ext cx="2606040" cy="320040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6" name="Member badge 1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Yadava HC</a:t>
            </a:r>
            <a:endParaRPr lang="en-US" sz="1800" dirty="0"/>
          </a:p>
        </p:txBody>
      </p:sp>
      <p:sp>
        <p:nvSpPr>
          <p:cNvPr id="9" name="Year chip 1"/>
          <p:cNvSpPr/>
          <p:nvPr/>
        </p:nvSpPr>
        <p:spPr>
          <a:xfrm>
            <a:off x="1005840" y="3611880"/>
            <a:ext cx="16916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 ·  ISE</a:t>
            </a:r>
            <a:endParaRPr lang="en-US" sz="1100" dirty="0"/>
          </a:p>
        </p:txBody>
      </p:sp>
      <p:sp>
        <p:nvSpPr>
          <p:cNvPr id="11" name="Member 2"/>
          <p:cNvSpPr/>
          <p:nvPr/>
        </p:nvSpPr>
        <p:spPr>
          <a:xfrm>
            <a:off x="3383280" y="1417320"/>
            <a:ext cx="2606040" cy="320040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2" name="Member badge 2"/>
          <p:cNvSpPr/>
          <p:nvPr/>
        </p:nvSpPr>
        <p:spPr>
          <a:xfrm>
            <a:off x="4206240" y="1691640"/>
            <a:ext cx="960120" cy="9601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Kumar H</a:t>
            </a:r>
            <a:endParaRPr lang="en-US" sz="1800" dirty="0"/>
          </a:p>
        </p:txBody>
      </p:sp>
      <p:sp>
        <p:nvSpPr>
          <p:cNvPr id="15" name="Year chip 2"/>
          <p:cNvSpPr/>
          <p:nvPr/>
        </p:nvSpPr>
        <p:spPr>
          <a:xfrm>
            <a:off x="3840480" y="3611880"/>
            <a:ext cx="169164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 ·  ISE</a:t>
            </a:r>
            <a:endParaRPr lang="en-US" sz="1100" dirty="0"/>
          </a:p>
        </p:txBody>
      </p:sp>
      <p:sp>
        <p:nvSpPr>
          <p:cNvPr id="17" name="Member 3"/>
          <p:cNvSpPr/>
          <p:nvPr/>
        </p:nvSpPr>
        <p:spPr>
          <a:xfrm>
            <a:off x="6217920" y="1417320"/>
            <a:ext cx="2606040" cy="320040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18" name="Member badge 3"/>
          <p:cNvSpPr/>
          <p:nvPr/>
        </p:nvSpPr>
        <p:spPr>
          <a:xfrm>
            <a:off x="7040880" y="1691640"/>
            <a:ext cx="960120" cy="9601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Lalitha K</a:t>
            </a:r>
            <a:endParaRPr lang="en-US" sz="1800" dirty="0"/>
          </a:p>
        </p:txBody>
      </p:sp>
      <p:sp>
        <p:nvSpPr>
          <p:cNvPr id="21" name="Year chip 3"/>
          <p:cNvSpPr/>
          <p:nvPr/>
        </p:nvSpPr>
        <p:spPr>
          <a:xfrm>
            <a:off x="6675120" y="3611880"/>
            <a:ext cx="169164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 ·  ISE</a:t>
            </a:r>
            <a:endParaRPr lang="en-US" sz="1100" dirty="0"/>
          </a:p>
        </p:txBody>
      </p:sp>
      <p:sp>
        <p:nvSpPr>
          <p:cNvPr id="23" name="Member 4"/>
          <p:cNvSpPr/>
          <p:nvPr/>
        </p:nvSpPr>
        <p:spPr>
          <a:xfrm>
            <a:off x="9052560" y="1417320"/>
            <a:ext cx="2606040" cy="320040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63500" dir="2700000">
              <a:srgbClr val="1D1A16">
                <a:alpha val="100000"/>
              </a:srgbClr>
            </a:outerShdw>
          </a:effectLst>
        </p:spPr>
      </p:sp>
      <p:sp>
        <p:nvSpPr>
          <p:cNvPr id="24" name="Member badge 4"/>
          <p:cNvSpPr/>
          <p:nvPr/>
        </p:nvSpPr>
        <p:spPr>
          <a:xfrm>
            <a:off x="9875520" y="1691640"/>
            <a:ext cx="960120" cy="9601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1691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Bhavani Patil</a:t>
            </a:r>
            <a:endParaRPr lang="en-US" sz="1800" dirty="0"/>
          </a:p>
        </p:txBody>
      </p:sp>
      <p:sp>
        <p:nvSpPr>
          <p:cNvPr id="27" name="Year chip 4"/>
          <p:cNvSpPr/>
          <p:nvPr/>
        </p:nvSpPr>
        <p:spPr>
          <a:xfrm>
            <a:off x="9509760" y="3611880"/>
            <a:ext cx="16916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0976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 ·  ISE</a:t>
            </a:r>
            <a:endParaRPr lang="en-US" sz="1100" dirty="0"/>
          </a:p>
        </p:txBody>
      </p:sp>
      <p:sp>
        <p:nvSpPr>
          <p:cNvPr id="29" name="College strip"/>
          <p:cNvSpPr/>
          <p:nvPr/>
        </p:nvSpPr>
        <p:spPr>
          <a:xfrm>
            <a:off x="548640" y="502920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2700000">
              <a:srgbClr val="1D1A16">
                <a:alpha val="10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SPY  ·  THE OXFORD COLLEGE OF ENGINEERING, BENGALURU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0936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43B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thra card"/>
          <p:cNvSpPr/>
          <p:nvPr/>
        </p:nvSpPr>
        <p:spPr>
          <a:xfrm>
            <a:off x="8412480" y="1325880"/>
            <a:ext cx="3200400" cy="32004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</p:spPr>
      </p:sp>
      <p:pic>
        <p:nvPicPr>
          <p:cNvPr id="3" name="Mithra" descr="Mithra, the masc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463040"/>
            <a:ext cx="2926080" cy="2926080"/>
          </a:xfrm>
          <a:prstGeom prst="rect">
            <a:avLst/>
          </a:prstGeom>
        </p:spPr>
      </p:pic>
      <p:pic>
        <p:nvPicPr>
          <p:cNvPr id="4" name="Logo" descr="C:\Users\Pavan Kumar H\AppData\Local\Temp\claude\c--Users-Pavan-Kumar-H-Documents-PlatformIO-Projects-Campus-Mithra\6fca2088-91a3-4f11-bee6-deca102415a2\scratchpad\deck\img\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280160" y="548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MITHRA  ·  TEAM SPY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697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on campus,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language.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button, ask in your own language, get a true answer from the college itself, and walk straight there.</a:t>
            </a:r>
            <a:endParaRPr lang="en-US" sz="1700" dirty="0"/>
          </a:p>
        </p:txBody>
      </p:sp>
      <p:sp>
        <p:nvSpPr>
          <p:cNvPr id="9" name="Site chip"/>
          <p:cNvSpPr/>
          <p:nvPr/>
        </p:nvSpPr>
        <p:spPr>
          <a:xfrm>
            <a:off x="640080" y="4754880"/>
            <a:ext cx="39319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4754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first-hack-team-spy-sigma.vercel.app</a:t>
            </a:r>
            <a:endParaRPr lang="en-US" sz="1200" dirty="0"/>
          </a:p>
        </p:txBody>
      </p:sp>
      <p:sp>
        <p:nvSpPr>
          <p:cNvPr id="11" name="Repo chip"/>
          <p:cNvSpPr/>
          <p:nvPr/>
        </p:nvSpPr>
        <p:spPr>
          <a:xfrm>
            <a:off x="4754880" y="4754880"/>
            <a:ext cx="448056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0" y="4754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github.com/Pavankumarh0/first-hack-teamSPY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Yadava HC  ·  Pavan Kumar H  ·  Lalitha K  ·  Bhavani Patil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Oxford College of Engineering, Bengaluru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Mithra">
  <a:themeElements>
    <a:clrScheme name="Campus Mithra">
      <a:dk1>
        <a:srgbClr val="1D1A16"/>
      </a:dk1>
      <a:lt1>
        <a:srgbClr val="F7F0E3"/>
      </a:lt1>
      <a:dk2>
        <a:srgbClr val="4A443B"/>
      </a:dk2>
      <a:lt2>
        <a:srgbClr val="F3EADA"/>
      </a:lt2>
      <a:accent1>
        <a:srgbClr val="F1BD3B"/>
      </a:accent1>
      <a:accent2>
        <a:srgbClr val="EE7A22"/>
      </a:accent2>
      <a:accent3>
        <a:srgbClr val="56B49C"/>
      </a:accent3>
      <a:accent4>
        <a:srgbClr val="7D8DD6"/>
      </a:accent4>
      <a:accent5>
        <a:srgbClr val="EA8CC1"/>
      </a:accent5>
      <a:accent6>
        <a:srgbClr val="D9472B"/>
      </a:accent6>
      <a:hlink>
        <a:srgbClr val="B85A12"/>
      </a:hlink>
      <a:folHlink>
        <a:srgbClr val="6B5FB0"/>
      </a:folHlink>
    </a:clrScheme>
    <a:fontScheme name="Campus Mithra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The Oxford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Mithra — Team Spy</dc:title>
  <dc:subject>PptxGenJS Presentation</dc:subject>
  <dc:creator>Team Spy</dc:creator>
  <cp:lastModifiedBy>Team Spy</cp:lastModifiedBy>
  <cp:revision>1</cp:revision>
  <dcterms:created xsi:type="dcterms:W3CDTF">2026-10-30T16:44:47Z</dcterms:created>
  <dcterms:modified xsi:type="dcterms:W3CDTF">2026-10-30T16:44:47Z</dcterms:modified>
</cp:coreProperties>
</file>